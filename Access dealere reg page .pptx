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67" r:id="rId5"/>
    <p:sldId id="261" r:id="rId6"/>
    <p:sldId id="262" r:id="rId7"/>
    <p:sldId id="264" r:id="rId8"/>
    <p:sldId id="25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17:14.624"/>
    </inkml:context>
    <inkml:brush xml:id="br0">
      <inkml:brushProperty name="width" value="0.035" units="cm"/>
      <inkml:brushProperty name="height" value="0.03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17:19.845"/>
    </inkml:context>
    <inkml:brush xml:id="br0">
      <inkml:brushProperty name="width" value="0.035" units="cm"/>
      <inkml:brushProperty name="height" value="0.035" units="cm"/>
    </inkml:brush>
  </inkml:definitions>
  <inkml:trace contextRef="#ctx0" brushRef="#br0">99 44 24575,'-6'0'0,"-8"-7"0,-9-1 0,-5-6 0,1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19:17:24.060"/>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C9A54-1B2E-47F7-B52D-DF501BA5BAAC}"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982F95-5AC4-49FF-9521-354F1F6FAE86}" type="slidenum">
              <a:rPr lang="en-US" smtClean="0"/>
              <a:t>‹#›</a:t>
            </a:fld>
            <a:endParaRPr lang="en-US"/>
          </a:p>
        </p:txBody>
      </p:sp>
    </p:spTree>
    <p:extLst>
      <p:ext uri="{BB962C8B-B14F-4D97-AF65-F5344CB8AC3E}">
        <p14:creationId xmlns:p14="http://schemas.microsoft.com/office/powerpoint/2010/main" val="217109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1CE9D-097A-7B63-296F-3BECA3C32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1853C-DD95-409A-7C9E-49B283533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01752-3868-9D8E-F9D8-CF080D4251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7B15A-063F-FBEF-0454-CB1D49EF392A}"/>
              </a:ext>
            </a:extLst>
          </p:cNvPr>
          <p:cNvSpPr>
            <a:spLocks noGrp="1"/>
          </p:cNvSpPr>
          <p:nvPr>
            <p:ph type="sldNum" sz="quarter" idx="5"/>
          </p:nvPr>
        </p:nvSpPr>
        <p:spPr/>
        <p:txBody>
          <a:bodyPr/>
          <a:lstStyle/>
          <a:p>
            <a:fld id="{D7C695CB-E6B0-4156-99AF-63727CFE67A1}" type="slidenum">
              <a:rPr lang="en-US" smtClean="0"/>
              <a:t>2</a:t>
            </a:fld>
            <a:endParaRPr lang="en-US"/>
          </a:p>
        </p:txBody>
      </p:sp>
    </p:spTree>
    <p:extLst>
      <p:ext uri="{BB962C8B-B14F-4D97-AF65-F5344CB8AC3E}">
        <p14:creationId xmlns:p14="http://schemas.microsoft.com/office/powerpoint/2010/main" val="1769605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7085-BC7D-BAC8-8C3A-1EF4BB2D1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50460-AA01-2214-7AF3-18D5C693A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5CCC4-69CC-173E-7F25-BEDF881DD1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5DCFBF-951A-62FA-9A31-D1CB69EE5875}"/>
              </a:ext>
            </a:extLst>
          </p:cNvPr>
          <p:cNvSpPr>
            <a:spLocks noGrp="1"/>
          </p:cNvSpPr>
          <p:nvPr>
            <p:ph type="sldNum" sz="quarter" idx="5"/>
          </p:nvPr>
        </p:nvSpPr>
        <p:spPr/>
        <p:txBody>
          <a:bodyPr/>
          <a:lstStyle/>
          <a:p>
            <a:fld id="{D7C695CB-E6B0-4156-99AF-63727CFE67A1}" type="slidenum">
              <a:rPr lang="en-US" smtClean="0"/>
              <a:t>3</a:t>
            </a:fld>
            <a:endParaRPr lang="en-US"/>
          </a:p>
        </p:txBody>
      </p:sp>
    </p:spTree>
    <p:extLst>
      <p:ext uri="{BB962C8B-B14F-4D97-AF65-F5344CB8AC3E}">
        <p14:creationId xmlns:p14="http://schemas.microsoft.com/office/powerpoint/2010/main" val="3542028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A19F0-F796-5F51-F9E1-F6EB02FC9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27AF9-4DF7-5E39-8B97-347C1C427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2D0066-4871-B719-5DA1-45C82F537C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E4BF36-1C26-F6F3-3E3C-F4A6C8B559F5}"/>
              </a:ext>
            </a:extLst>
          </p:cNvPr>
          <p:cNvSpPr>
            <a:spLocks noGrp="1"/>
          </p:cNvSpPr>
          <p:nvPr>
            <p:ph type="sldNum" sz="quarter" idx="5"/>
          </p:nvPr>
        </p:nvSpPr>
        <p:spPr/>
        <p:txBody>
          <a:bodyPr/>
          <a:lstStyle/>
          <a:p>
            <a:fld id="{D7C695CB-E6B0-4156-99AF-63727CFE67A1}" type="slidenum">
              <a:rPr lang="en-US" smtClean="0"/>
              <a:t>4</a:t>
            </a:fld>
            <a:endParaRPr lang="en-US"/>
          </a:p>
        </p:txBody>
      </p:sp>
    </p:spTree>
    <p:extLst>
      <p:ext uri="{BB962C8B-B14F-4D97-AF65-F5344CB8AC3E}">
        <p14:creationId xmlns:p14="http://schemas.microsoft.com/office/powerpoint/2010/main" val="3447562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BB5F-E336-8A79-9306-80BB23DDF6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DE86EC-8125-CE73-96DF-1F54C8F3B2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53BFC1-E181-421E-01FB-8761A992412D}"/>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A16B9783-BE7B-D91D-545B-41D007353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343DC-08E5-69EA-E2BE-670B489299C0}"/>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3594699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F919-7A26-A84B-7C3F-7F93CA213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06EED7-7223-29AB-6EFC-8D9266B01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41CB41-3EBF-37A3-BA10-447F72E138F6}"/>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3E76F0E3-CFAD-4B56-E5BF-EC79DC055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16129-AAED-4484-9D95-FAEB27177C40}"/>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385760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DF63F-F2F8-7D4F-4058-060FBCB71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A0AAC3-9148-0EC3-2BAF-2D6A3ED4B2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09E87-6AB0-055E-AC3A-907F54D655CA}"/>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4BB1582C-5F2C-3F86-22BE-D9C1A9374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C686A-79DA-F265-BD76-79B5092B9839}"/>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287164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A5F32-E818-BF6B-E4B0-D121146EC0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F3C9E9-722C-5F84-6909-0880743581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C69B05-6D3B-51FA-38B4-5E3EC5BE7E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FE4CBF-E935-8D0D-E704-8002747C5C89}"/>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6" name="Footer Placeholder 5">
            <a:extLst>
              <a:ext uri="{FF2B5EF4-FFF2-40B4-BE49-F238E27FC236}">
                <a16:creationId xmlns:a16="http://schemas.microsoft.com/office/drawing/2014/main" id="{B408E6E8-86E6-1914-8210-0EAAE2E4CE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433C44-12CF-A8B0-52FD-F32D09B899AD}"/>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2765619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A593-A873-F9D7-B59E-4B5881CC05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6EDB5-185C-2010-4BB2-803A8564C0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EABFD1-E707-541A-F4DC-5FB5D37CC3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F41500-55A9-733C-D1FC-3AA9BB95D9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4BE39-79EF-B8FC-6C82-F96A8A5079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66C9C1-F69A-1DE3-BA63-E307EC9C17E1}"/>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8" name="Footer Placeholder 7">
            <a:extLst>
              <a:ext uri="{FF2B5EF4-FFF2-40B4-BE49-F238E27FC236}">
                <a16:creationId xmlns:a16="http://schemas.microsoft.com/office/drawing/2014/main" id="{E71F6C40-A54A-C049-35F1-3CF58E1F66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21BEEA-784F-0BC3-AA35-7D421C7B78A7}"/>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3640683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2C372-7E8C-FF53-80A1-E5D9A34322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95F7D4-1586-E2DC-A80B-8931CBB4E746}"/>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4" name="Footer Placeholder 3">
            <a:extLst>
              <a:ext uri="{FF2B5EF4-FFF2-40B4-BE49-F238E27FC236}">
                <a16:creationId xmlns:a16="http://schemas.microsoft.com/office/drawing/2014/main" id="{17C6550B-69F1-E870-8260-69AFE70BD4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79D17C-8774-1056-E324-E55AE25FFF07}"/>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4287420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FF5643-EFF8-79A4-26AE-2D4B8D2CD65D}"/>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3" name="Footer Placeholder 2">
            <a:extLst>
              <a:ext uri="{FF2B5EF4-FFF2-40B4-BE49-F238E27FC236}">
                <a16:creationId xmlns:a16="http://schemas.microsoft.com/office/drawing/2014/main" id="{C967F2AD-88C7-1A8B-5FC8-45FC9B311F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3D3243-3F54-8382-4681-94565B8CAD79}"/>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2991040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F0A2-FB76-7E36-15DC-E2072453D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B4F86C-5C07-F580-7C8A-153472446E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2DC44F-6286-317F-EBC4-9C67C756C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7AE45D-D2C4-FBEC-8685-A54D58109CA9}"/>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6" name="Footer Placeholder 5">
            <a:extLst>
              <a:ext uri="{FF2B5EF4-FFF2-40B4-BE49-F238E27FC236}">
                <a16:creationId xmlns:a16="http://schemas.microsoft.com/office/drawing/2014/main" id="{0F88A0E6-0B56-1898-4218-075A0807C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0DEDC-326F-EFC0-BBC3-DB5322F250D3}"/>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1155838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09BB-0978-18BE-DD12-B9700083E0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76D9E3-3E37-2D9E-E3ED-CCBE568F32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88137DA-FB00-268D-BFDD-F3FE2A98B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76181-21AF-D892-94D6-9E72F18423C0}"/>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6" name="Footer Placeholder 5">
            <a:extLst>
              <a:ext uri="{FF2B5EF4-FFF2-40B4-BE49-F238E27FC236}">
                <a16:creationId xmlns:a16="http://schemas.microsoft.com/office/drawing/2014/main" id="{AAD498AA-B871-BB95-9727-B4556534B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35512-3763-57D9-8B09-2DE8B2D5CCE8}"/>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1690769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4F27-FB6A-F6E8-1D34-F498093B6B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C38096-9DC4-A983-5E65-BEEA004A87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FE63F-913C-2DBD-F271-3AE242C407AB}"/>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BC3B086A-3E07-32D6-7191-F5437B95B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D9418-1312-8D2B-0B1B-F0D1CF6CDB46}"/>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425427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FFCC63-E469-DD86-4099-7F3CE026E9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15CDEC-53E8-835F-DC0C-89D120F6F1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81614-6E9F-2D03-5890-6D60A1A08747}"/>
              </a:ext>
            </a:extLst>
          </p:cNvPr>
          <p:cNvSpPr>
            <a:spLocks noGrp="1"/>
          </p:cNvSpPr>
          <p:nvPr>
            <p:ph type="dt" sz="half" idx="10"/>
          </p:nvPr>
        </p:nvSpPr>
        <p:spPr/>
        <p:txBody>
          <a:body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725AB028-671A-9B09-DC11-B5AA455D49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A9C82-AF00-D26D-EC32-2C8D7A9B31D4}"/>
              </a:ext>
            </a:extLst>
          </p:cNvPr>
          <p:cNvSpPr>
            <a:spLocks noGrp="1"/>
          </p:cNvSpPr>
          <p:nvPr>
            <p:ph type="sldNum" sz="quarter" idx="12"/>
          </p:nvPr>
        </p:nvSpPr>
        <p:spPr/>
        <p:txBody>
          <a:bodyPr/>
          <a:lstStyle/>
          <a:p>
            <a:fld id="{D8702EBC-ADC4-4F48-97EF-F4392F6A05CF}" type="slidenum">
              <a:rPr lang="en-US" smtClean="0"/>
              <a:t>‹#›</a:t>
            </a:fld>
            <a:endParaRPr lang="en-US"/>
          </a:p>
        </p:txBody>
      </p:sp>
    </p:spTree>
    <p:extLst>
      <p:ext uri="{BB962C8B-B14F-4D97-AF65-F5344CB8AC3E}">
        <p14:creationId xmlns:p14="http://schemas.microsoft.com/office/powerpoint/2010/main" val="189514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8A862-6408-054B-FAE8-9D821C95C0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48C1BA-1C64-8871-FFA6-E70A9DFFE8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82E0A4-7C02-E0FC-FCA1-F92DAFCDF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3801B8-1A0B-4E79-8929-22BD49AA0696}" type="datetimeFigureOut">
              <a:rPr lang="en-US" smtClean="0"/>
              <a:t>3/31/2026</a:t>
            </a:fld>
            <a:endParaRPr lang="en-US"/>
          </a:p>
        </p:txBody>
      </p:sp>
      <p:sp>
        <p:nvSpPr>
          <p:cNvPr id="5" name="Footer Placeholder 4">
            <a:extLst>
              <a:ext uri="{FF2B5EF4-FFF2-40B4-BE49-F238E27FC236}">
                <a16:creationId xmlns:a16="http://schemas.microsoft.com/office/drawing/2014/main" id="{733011FB-A8F0-C493-7C05-DBE958294A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8A98A7-86C8-4993-9C25-C535DF9D11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702EBC-ADC4-4F48-97EF-F4392F6A05CF}" type="slidenum">
              <a:rPr lang="en-US" smtClean="0"/>
              <a:t>‹#›</a:t>
            </a:fld>
            <a:endParaRPr lang="en-US"/>
          </a:p>
        </p:txBody>
      </p:sp>
    </p:spTree>
    <p:extLst>
      <p:ext uri="{BB962C8B-B14F-4D97-AF65-F5344CB8AC3E}">
        <p14:creationId xmlns:p14="http://schemas.microsoft.com/office/powerpoint/2010/main" val="284293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ealerportal.hitachicm.us/"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hyperlink" Target="https://dealerportal.hitachicm.us/" TargetMode="External"/><Relationship Id="rId7"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8.png"/><Relationship Id="rId10" Type="http://schemas.openxmlformats.org/officeDocument/2006/relationships/customXml" Target="../ink/ink3.xml"/><Relationship Id="rId4" Type="http://schemas.openxmlformats.org/officeDocument/2006/relationships/image" Target="../media/image7.png"/><Relationship Id="rId9" Type="http://schemas.openxmlformats.org/officeDocument/2006/relationships/image" Target="../media/image80.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DB37E9-7E44-CCCA-21CC-2190D5F5B56A}"/>
              </a:ext>
            </a:extLst>
          </p:cNvPr>
          <p:cNvSpPr>
            <a:spLocks noGrp="1"/>
          </p:cNvSpPr>
          <p:nvPr>
            <p:ph type="title"/>
          </p:nvPr>
        </p:nvSpPr>
        <p:spPr>
          <a:xfrm>
            <a:off x="838200" y="365126"/>
            <a:ext cx="10515600" cy="562338"/>
          </a:xfrm>
        </p:spPr>
        <p:txBody>
          <a:bodyPr>
            <a:normAutofit fontScale="90000"/>
          </a:bodyPr>
          <a:lstStyle/>
          <a:p>
            <a:pPr algn="ctr"/>
            <a:r>
              <a:rPr lang="en-US" dirty="0"/>
              <a:t>Accessing  dealer Portal 2.0</a:t>
            </a:r>
          </a:p>
        </p:txBody>
      </p:sp>
      <p:pic>
        <p:nvPicPr>
          <p:cNvPr id="11" name="Picture 10">
            <a:extLst>
              <a:ext uri="{FF2B5EF4-FFF2-40B4-BE49-F238E27FC236}">
                <a16:creationId xmlns:a16="http://schemas.microsoft.com/office/drawing/2014/main" id="{169A0D06-5828-224E-0DB5-489E226CAB12}"/>
              </a:ext>
            </a:extLst>
          </p:cNvPr>
          <p:cNvPicPr>
            <a:picLocks noChangeAspect="1"/>
          </p:cNvPicPr>
          <p:nvPr/>
        </p:nvPicPr>
        <p:blipFill>
          <a:blip r:embed="rId2"/>
          <a:stretch>
            <a:fillRect/>
          </a:stretch>
        </p:blipFill>
        <p:spPr>
          <a:xfrm>
            <a:off x="3550061" y="842106"/>
            <a:ext cx="4265859" cy="5747656"/>
          </a:xfrm>
          <a:prstGeom prst="rect">
            <a:avLst/>
          </a:prstGeom>
        </p:spPr>
      </p:pic>
      <p:sp>
        <p:nvSpPr>
          <p:cNvPr id="20" name="Arrow: Left 19">
            <a:extLst>
              <a:ext uri="{FF2B5EF4-FFF2-40B4-BE49-F238E27FC236}">
                <a16:creationId xmlns:a16="http://schemas.microsoft.com/office/drawing/2014/main" id="{05D2046F-1A90-F061-2EF0-9F490E3DDC1C}"/>
              </a:ext>
            </a:extLst>
          </p:cNvPr>
          <p:cNvSpPr/>
          <p:nvPr/>
        </p:nvSpPr>
        <p:spPr>
          <a:xfrm>
            <a:off x="6670640" y="6078291"/>
            <a:ext cx="978408" cy="478563"/>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29B3DC6-C61F-3C62-E503-9B1A1EEB0721}"/>
              </a:ext>
            </a:extLst>
          </p:cNvPr>
          <p:cNvSpPr txBox="1"/>
          <p:nvPr/>
        </p:nvSpPr>
        <p:spPr>
          <a:xfrm>
            <a:off x="509451" y="1436914"/>
            <a:ext cx="3148969" cy="5078313"/>
          </a:xfrm>
          <a:prstGeom prst="rect">
            <a:avLst/>
          </a:prstGeom>
          <a:noFill/>
        </p:spPr>
        <p:txBody>
          <a:bodyPr wrap="square">
            <a:spAutoFit/>
          </a:bodyPr>
          <a:lstStyle/>
          <a:p>
            <a:pPr marL="0" indent="0">
              <a:buNone/>
            </a:pPr>
            <a:r>
              <a:rPr lang="en-US" sz="1200" i="1" dirty="0"/>
              <a:t>*Follow these steps after you have received a confirmation email from Hitachi/</a:t>
            </a:r>
            <a:r>
              <a:rPr lang="en-US" sz="1200" i="1" dirty="0" err="1"/>
              <a:t>Landcros</a:t>
            </a:r>
            <a:r>
              <a:rPr lang="en-US" sz="1200" i="1" dirty="0"/>
              <a:t> confirming your access has been granted.</a:t>
            </a:r>
          </a:p>
          <a:p>
            <a:pPr marL="0" indent="0">
              <a:buNone/>
            </a:pPr>
            <a:endParaRPr lang="en-US" dirty="0"/>
          </a:p>
          <a:p>
            <a:pPr marL="0" indent="0">
              <a:buNone/>
            </a:pPr>
            <a:r>
              <a:rPr lang="en-US" sz="1800" dirty="0"/>
              <a:t>To Access Dealer portal 2.0, use the link </a:t>
            </a:r>
            <a:r>
              <a:rPr lang="en-US" sz="1800" dirty="0">
                <a:hlinkClick r:id="rId3"/>
              </a:rPr>
              <a:t>https://dealerportal.hitachicm.us</a:t>
            </a:r>
            <a:r>
              <a:rPr lang="en-US" sz="1800" dirty="0"/>
              <a:t> to be sent to the login page. Our application authenticator will ask for your login credentials or give you the option to create an account.  If you have logged into Dealer Portal previously, simply enter your username (email address) and password.  If you have never accessed Dealer portal 2.0</a:t>
            </a:r>
            <a:r>
              <a:rPr lang="en-US" dirty="0"/>
              <a:t> ,</a:t>
            </a:r>
            <a:r>
              <a:rPr lang="en-US" sz="1800" dirty="0"/>
              <a:t>  click on the blue Sign up link</a:t>
            </a:r>
            <a:endParaRPr lang="en-US" sz="1800" dirty="0">
              <a:solidFill>
                <a:schemeClr val="tx2"/>
              </a:solidFill>
            </a:endParaRPr>
          </a:p>
        </p:txBody>
      </p:sp>
      <p:pic>
        <p:nvPicPr>
          <p:cNvPr id="3" name="Picture 2">
            <a:extLst>
              <a:ext uri="{FF2B5EF4-FFF2-40B4-BE49-F238E27FC236}">
                <a16:creationId xmlns:a16="http://schemas.microsoft.com/office/drawing/2014/main" id="{4D60E3ED-06C6-0733-4451-3CC4920D2A44}"/>
              </a:ext>
            </a:extLst>
          </p:cNvPr>
          <p:cNvPicPr>
            <a:picLocks noChangeAspect="1"/>
          </p:cNvPicPr>
          <p:nvPr/>
        </p:nvPicPr>
        <p:blipFill>
          <a:blip r:embed="rId4"/>
          <a:stretch>
            <a:fillRect/>
          </a:stretch>
        </p:blipFill>
        <p:spPr>
          <a:xfrm>
            <a:off x="7982793" y="842106"/>
            <a:ext cx="4043835" cy="5747656"/>
          </a:xfrm>
          <a:prstGeom prst="rect">
            <a:avLst/>
          </a:prstGeom>
        </p:spPr>
      </p:pic>
    </p:spTree>
    <p:extLst>
      <p:ext uri="{BB962C8B-B14F-4D97-AF65-F5344CB8AC3E}">
        <p14:creationId xmlns:p14="http://schemas.microsoft.com/office/powerpoint/2010/main" val="3669441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74582-AF9B-8CC2-7481-CFA3F386A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54C3F-0896-6C1F-7B7E-88A5DE86E1D4}"/>
              </a:ext>
            </a:extLst>
          </p:cNvPr>
          <p:cNvSpPr>
            <a:spLocks noGrp="1"/>
          </p:cNvSpPr>
          <p:nvPr>
            <p:ph type="title"/>
          </p:nvPr>
        </p:nvSpPr>
        <p:spPr>
          <a:xfrm>
            <a:off x="1179576" y="240064"/>
            <a:ext cx="9829800" cy="528635"/>
          </a:xfrm>
        </p:spPr>
        <p:txBody>
          <a:bodyPr anchor="b">
            <a:normAutofit fontScale="90000"/>
          </a:bodyPr>
          <a:lstStyle/>
          <a:p>
            <a:pPr algn="ctr"/>
            <a:r>
              <a:rPr lang="en-US" sz="3600" dirty="0">
                <a:solidFill>
                  <a:schemeClr val="tx2"/>
                </a:solidFill>
              </a:rPr>
              <a:t>Accessing Dealer Portal 2.0</a:t>
            </a:r>
          </a:p>
        </p:txBody>
      </p:sp>
      <p:sp>
        <p:nvSpPr>
          <p:cNvPr id="8" name="Content Placeholder 7">
            <a:extLst>
              <a:ext uri="{FF2B5EF4-FFF2-40B4-BE49-F238E27FC236}">
                <a16:creationId xmlns:a16="http://schemas.microsoft.com/office/drawing/2014/main" id="{1C1D09FF-1619-AB93-723D-0649AEEC982B}"/>
              </a:ext>
            </a:extLst>
          </p:cNvPr>
          <p:cNvSpPr>
            <a:spLocks noGrp="1"/>
          </p:cNvSpPr>
          <p:nvPr>
            <p:ph idx="1"/>
          </p:nvPr>
        </p:nvSpPr>
        <p:spPr>
          <a:xfrm>
            <a:off x="804672" y="1085222"/>
            <a:ext cx="2136070" cy="5456255"/>
          </a:xfrm>
        </p:spPr>
        <p:txBody>
          <a:bodyPr anchor="ctr">
            <a:normAutofit/>
          </a:bodyPr>
          <a:lstStyle/>
          <a:p>
            <a:pPr marL="0" indent="0">
              <a:buNone/>
            </a:pPr>
            <a:r>
              <a:rPr lang="en-US" sz="1800" dirty="0">
                <a:solidFill>
                  <a:schemeClr val="tx2"/>
                </a:solidFill>
              </a:rPr>
              <a:t>Enter your Name, and corporate email address, then click Sign Up to create your account.</a:t>
            </a:r>
          </a:p>
          <a:p>
            <a:pPr marL="0" indent="0">
              <a:buNone/>
            </a:pPr>
            <a:r>
              <a:rPr lang="en-US" sz="1800" dirty="0">
                <a:solidFill>
                  <a:schemeClr val="tx2"/>
                </a:solidFill>
              </a:rPr>
              <a:t>Upon your first time accessing the Dealer portal, you will be asked to setup security methods to secure your account. (</a:t>
            </a:r>
            <a:r>
              <a:rPr lang="en-US" sz="1100" dirty="0">
                <a:solidFill>
                  <a:schemeClr val="tx2"/>
                </a:solidFill>
              </a:rPr>
              <a:t>chose 2</a:t>
            </a:r>
            <a:r>
              <a:rPr lang="en-US" sz="1800" dirty="0">
                <a:solidFill>
                  <a:schemeClr val="tx2"/>
                </a:solidFill>
              </a:rPr>
              <a:t>)</a:t>
            </a:r>
          </a:p>
        </p:txBody>
      </p:sp>
      <p:sp>
        <p:nvSpPr>
          <p:cNvPr id="5" name="Arrow: Right 4">
            <a:extLst>
              <a:ext uri="{FF2B5EF4-FFF2-40B4-BE49-F238E27FC236}">
                <a16:creationId xmlns:a16="http://schemas.microsoft.com/office/drawing/2014/main" id="{965B54A7-6D3D-9451-83A3-6BCB211D8F53}"/>
              </a:ext>
            </a:extLst>
          </p:cNvPr>
          <p:cNvSpPr/>
          <p:nvPr/>
        </p:nvSpPr>
        <p:spPr>
          <a:xfrm>
            <a:off x="6953459" y="5144757"/>
            <a:ext cx="688030" cy="190918"/>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12" name="Picture 11">
            <a:extLst>
              <a:ext uri="{FF2B5EF4-FFF2-40B4-BE49-F238E27FC236}">
                <a16:creationId xmlns:a16="http://schemas.microsoft.com/office/drawing/2014/main" id="{CA23E3D0-C8B9-D68A-DB5B-40AD2368AC5B}"/>
              </a:ext>
            </a:extLst>
          </p:cNvPr>
          <p:cNvPicPr>
            <a:picLocks noChangeAspect="1"/>
          </p:cNvPicPr>
          <p:nvPr/>
        </p:nvPicPr>
        <p:blipFill>
          <a:blip r:embed="rId3"/>
          <a:stretch>
            <a:fillRect/>
          </a:stretch>
        </p:blipFill>
        <p:spPr>
          <a:xfrm>
            <a:off x="2899822" y="825480"/>
            <a:ext cx="4700747" cy="5609174"/>
          </a:xfrm>
          <a:prstGeom prst="rect">
            <a:avLst/>
          </a:prstGeom>
          <a:effectLst>
            <a:innerShdw blurRad="63500" dist="50800" dir="13500000">
              <a:prstClr val="black">
                <a:alpha val="50000"/>
              </a:prstClr>
            </a:innerShdw>
          </a:effectLst>
        </p:spPr>
      </p:pic>
      <p:pic>
        <p:nvPicPr>
          <p:cNvPr id="20" name="Picture 19">
            <a:extLst>
              <a:ext uri="{FF2B5EF4-FFF2-40B4-BE49-F238E27FC236}">
                <a16:creationId xmlns:a16="http://schemas.microsoft.com/office/drawing/2014/main" id="{98CADF60-2038-E9C3-B9BC-8FB708ED3265}"/>
              </a:ext>
            </a:extLst>
          </p:cNvPr>
          <p:cNvPicPr>
            <a:picLocks noChangeAspect="1"/>
          </p:cNvPicPr>
          <p:nvPr/>
        </p:nvPicPr>
        <p:blipFill>
          <a:blip r:embed="rId4"/>
          <a:stretch>
            <a:fillRect/>
          </a:stretch>
        </p:blipFill>
        <p:spPr>
          <a:xfrm>
            <a:off x="7810439" y="825481"/>
            <a:ext cx="4246577" cy="5609174"/>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443187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F8F9-7EBA-0178-F5F6-E99964CE4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4A3D5-B464-312B-2C68-C811164E8169}"/>
              </a:ext>
            </a:extLst>
          </p:cNvPr>
          <p:cNvSpPr>
            <a:spLocks noGrp="1"/>
          </p:cNvSpPr>
          <p:nvPr>
            <p:ph type="title"/>
          </p:nvPr>
        </p:nvSpPr>
        <p:spPr>
          <a:xfrm>
            <a:off x="1179576" y="240064"/>
            <a:ext cx="9829800" cy="528635"/>
          </a:xfrm>
        </p:spPr>
        <p:txBody>
          <a:bodyPr anchor="b">
            <a:normAutofit fontScale="90000"/>
          </a:bodyPr>
          <a:lstStyle/>
          <a:p>
            <a:pPr algn="ctr"/>
            <a:r>
              <a:rPr lang="en-US" sz="3600" dirty="0">
                <a:solidFill>
                  <a:schemeClr val="tx2"/>
                </a:solidFill>
              </a:rPr>
              <a:t>Accessing Dealer Portal 2.0</a:t>
            </a:r>
          </a:p>
        </p:txBody>
      </p:sp>
      <p:sp>
        <p:nvSpPr>
          <p:cNvPr id="8" name="Content Placeholder 7">
            <a:extLst>
              <a:ext uri="{FF2B5EF4-FFF2-40B4-BE49-F238E27FC236}">
                <a16:creationId xmlns:a16="http://schemas.microsoft.com/office/drawing/2014/main" id="{C5CFB359-FB2A-4C05-4440-D4F47A698A21}"/>
              </a:ext>
            </a:extLst>
          </p:cNvPr>
          <p:cNvSpPr>
            <a:spLocks noGrp="1"/>
          </p:cNvSpPr>
          <p:nvPr>
            <p:ph idx="1"/>
          </p:nvPr>
        </p:nvSpPr>
        <p:spPr>
          <a:xfrm>
            <a:off x="949870" y="1008762"/>
            <a:ext cx="2408791" cy="5456255"/>
          </a:xfrm>
        </p:spPr>
        <p:txBody>
          <a:bodyPr anchor="ctr">
            <a:normAutofit/>
          </a:bodyPr>
          <a:lstStyle/>
          <a:p>
            <a:pPr marL="0" indent="0">
              <a:buNone/>
            </a:pPr>
            <a:r>
              <a:rPr lang="en-US" sz="1800" dirty="0">
                <a:solidFill>
                  <a:schemeClr val="tx2"/>
                </a:solidFill>
              </a:rPr>
              <a:t>After you have selected your authentication methods, you will receive an email to verify your account.</a:t>
            </a:r>
          </a:p>
          <a:p>
            <a:pPr marL="0" indent="0">
              <a:buNone/>
            </a:pPr>
            <a:r>
              <a:rPr lang="en-US" sz="1800" dirty="0">
                <a:solidFill>
                  <a:schemeClr val="tx2"/>
                </a:solidFill>
              </a:rPr>
              <a:t>Please be aware that if you do not activate this link within 7 days, your account will become deactivated.</a:t>
            </a:r>
          </a:p>
          <a:p>
            <a:pPr marL="0" indent="0">
              <a:buNone/>
            </a:pPr>
            <a:r>
              <a:rPr lang="en-US" sz="1800" dirty="0">
                <a:solidFill>
                  <a:schemeClr val="tx2"/>
                </a:solidFill>
              </a:rPr>
              <a:t>To regain access to your account, you will need to email, portalhelp@hitachicm.us</a:t>
            </a:r>
          </a:p>
        </p:txBody>
      </p:sp>
      <p:sp>
        <p:nvSpPr>
          <p:cNvPr id="5" name="Arrow: Right 4">
            <a:extLst>
              <a:ext uri="{FF2B5EF4-FFF2-40B4-BE49-F238E27FC236}">
                <a16:creationId xmlns:a16="http://schemas.microsoft.com/office/drawing/2014/main" id="{7E082049-DA32-C22F-BB72-3D03B145E37D}"/>
              </a:ext>
            </a:extLst>
          </p:cNvPr>
          <p:cNvSpPr/>
          <p:nvPr/>
        </p:nvSpPr>
        <p:spPr>
          <a:xfrm>
            <a:off x="6953459" y="5144757"/>
            <a:ext cx="688030" cy="190918"/>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9" name="Picture 8">
            <a:extLst>
              <a:ext uri="{FF2B5EF4-FFF2-40B4-BE49-F238E27FC236}">
                <a16:creationId xmlns:a16="http://schemas.microsoft.com/office/drawing/2014/main" id="{62B7E2DE-CF28-762D-E136-90E60CFD4FC6}"/>
              </a:ext>
            </a:extLst>
          </p:cNvPr>
          <p:cNvPicPr>
            <a:picLocks noChangeAspect="1"/>
          </p:cNvPicPr>
          <p:nvPr/>
        </p:nvPicPr>
        <p:blipFill>
          <a:blip r:embed="rId3"/>
          <a:stretch>
            <a:fillRect/>
          </a:stretch>
        </p:blipFill>
        <p:spPr>
          <a:xfrm>
            <a:off x="3581400" y="768699"/>
            <a:ext cx="6305550" cy="5456255"/>
          </a:xfrm>
          <a:prstGeom prst="rect">
            <a:avLst/>
          </a:prstGeom>
        </p:spPr>
      </p:pic>
      <p:sp>
        <p:nvSpPr>
          <p:cNvPr id="3" name="Rectangle 2">
            <a:extLst>
              <a:ext uri="{FF2B5EF4-FFF2-40B4-BE49-F238E27FC236}">
                <a16:creationId xmlns:a16="http://schemas.microsoft.com/office/drawing/2014/main" id="{8186A97A-10EC-3905-334F-A28ECEBDF421}"/>
              </a:ext>
            </a:extLst>
          </p:cNvPr>
          <p:cNvSpPr/>
          <p:nvPr/>
        </p:nvSpPr>
        <p:spPr>
          <a:xfrm>
            <a:off x="8848726" y="4686301"/>
            <a:ext cx="1905000" cy="1778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The activation link must be opened with the same browser you are using to sign in with. Otherwise, use the verification code to authenticate your account.</a:t>
            </a:r>
          </a:p>
        </p:txBody>
      </p:sp>
      <p:pic>
        <p:nvPicPr>
          <p:cNvPr id="10" name="Picture 9">
            <a:extLst>
              <a:ext uri="{FF2B5EF4-FFF2-40B4-BE49-F238E27FC236}">
                <a16:creationId xmlns:a16="http://schemas.microsoft.com/office/drawing/2014/main" id="{AA4E81D1-CC16-1F6D-00B0-96187A0EC510}"/>
              </a:ext>
            </a:extLst>
          </p:cNvPr>
          <p:cNvPicPr>
            <a:picLocks noChangeAspect="1"/>
          </p:cNvPicPr>
          <p:nvPr/>
        </p:nvPicPr>
        <p:blipFill>
          <a:blip r:embed="rId4"/>
          <a:stretch>
            <a:fillRect/>
          </a:stretch>
        </p:blipFill>
        <p:spPr>
          <a:xfrm>
            <a:off x="5112921" y="5011584"/>
            <a:ext cx="2467319" cy="228632"/>
          </a:xfrm>
          <a:prstGeom prst="rect">
            <a:avLst/>
          </a:prstGeom>
        </p:spPr>
      </p:pic>
    </p:spTree>
    <p:extLst>
      <p:ext uri="{BB962C8B-B14F-4D97-AF65-F5344CB8AC3E}">
        <p14:creationId xmlns:p14="http://schemas.microsoft.com/office/powerpoint/2010/main" val="380618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DAD20-B904-33B0-0B27-B53A5C9D6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DFD9A-6EC3-7AA7-25C8-2A3537760E23}"/>
              </a:ext>
            </a:extLst>
          </p:cNvPr>
          <p:cNvSpPr>
            <a:spLocks noGrp="1"/>
          </p:cNvSpPr>
          <p:nvPr>
            <p:ph type="title"/>
          </p:nvPr>
        </p:nvSpPr>
        <p:spPr>
          <a:xfrm>
            <a:off x="1179576" y="240064"/>
            <a:ext cx="9829800" cy="528635"/>
          </a:xfrm>
        </p:spPr>
        <p:txBody>
          <a:bodyPr anchor="b">
            <a:normAutofit fontScale="90000"/>
          </a:bodyPr>
          <a:lstStyle/>
          <a:p>
            <a:pPr algn="ctr"/>
            <a:r>
              <a:rPr lang="en-US" sz="3600">
                <a:solidFill>
                  <a:schemeClr val="tx2"/>
                </a:solidFill>
              </a:rPr>
              <a:t>Accessing Dealer Portal 2.0</a:t>
            </a:r>
            <a:endParaRPr lang="en-US" sz="3600" dirty="0">
              <a:solidFill>
                <a:schemeClr val="tx2"/>
              </a:solidFill>
            </a:endParaRPr>
          </a:p>
        </p:txBody>
      </p:sp>
      <p:sp>
        <p:nvSpPr>
          <p:cNvPr id="8" name="Content Placeholder 7">
            <a:extLst>
              <a:ext uri="{FF2B5EF4-FFF2-40B4-BE49-F238E27FC236}">
                <a16:creationId xmlns:a16="http://schemas.microsoft.com/office/drawing/2014/main" id="{1E13C69C-A81A-D7D4-B4E0-4D30E91CDE04}"/>
              </a:ext>
            </a:extLst>
          </p:cNvPr>
          <p:cNvSpPr>
            <a:spLocks noGrp="1"/>
          </p:cNvSpPr>
          <p:nvPr>
            <p:ph idx="1"/>
          </p:nvPr>
        </p:nvSpPr>
        <p:spPr>
          <a:xfrm>
            <a:off x="470263" y="1085222"/>
            <a:ext cx="3587387" cy="4831892"/>
          </a:xfrm>
          <a:effectLst>
            <a:innerShdw blurRad="63500" dist="50800" dir="13500000">
              <a:prstClr val="black">
                <a:alpha val="50000"/>
              </a:prstClr>
            </a:innerShdw>
          </a:effectLst>
        </p:spPr>
        <p:txBody>
          <a:bodyPr anchor="ctr">
            <a:normAutofit/>
          </a:bodyPr>
          <a:lstStyle/>
          <a:p>
            <a:pPr marL="0" indent="0">
              <a:buNone/>
            </a:pPr>
            <a:r>
              <a:rPr lang="en-US" sz="1800" dirty="0">
                <a:solidFill>
                  <a:schemeClr val="tx2"/>
                </a:solidFill>
              </a:rPr>
              <a:t>You are now ready to log in and access the Dealer Portal.</a:t>
            </a:r>
          </a:p>
          <a:p>
            <a:pPr marL="0" indent="0">
              <a:buNone/>
            </a:pPr>
            <a:r>
              <a:rPr lang="en-US" sz="1800" dirty="0">
                <a:hlinkClick r:id="rId3"/>
              </a:rPr>
              <a:t>https://dealerportal.hitachicm.us</a:t>
            </a:r>
            <a:endParaRPr lang="en-US" sz="1800" dirty="0">
              <a:solidFill>
                <a:schemeClr val="tx2"/>
              </a:solidFill>
            </a:endParaRPr>
          </a:p>
          <a:p>
            <a:pPr marL="0" indent="0">
              <a:buNone/>
            </a:pPr>
            <a:endParaRPr lang="en-US" sz="1800" dirty="0">
              <a:solidFill>
                <a:schemeClr val="tx2"/>
              </a:solidFill>
            </a:endParaRPr>
          </a:p>
        </p:txBody>
      </p:sp>
      <p:pic>
        <p:nvPicPr>
          <p:cNvPr id="6" name="Picture 5">
            <a:extLst>
              <a:ext uri="{FF2B5EF4-FFF2-40B4-BE49-F238E27FC236}">
                <a16:creationId xmlns:a16="http://schemas.microsoft.com/office/drawing/2014/main" id="{8CA152AA-CCD4-3EC1-95BB-4A3D14E9E858}"/>
              </a:ext>
            </a:extLst>
          </p:cNvPr>
          <p:cNvPicPr>
            <a:picLocks noChangeAspect="1"/>
          </p:cNvPicPr>
          <p:nvPr/>
        </p:nvPicPr>
        <p:blipFill>
          <a:blip r:embed="rId4"/>
          <a:stretch>
            <a:fillRect/>
          </a:stretch>
        </p:blipFill>
        <p:spPr>
          <a:xfrm>
            <a:off x="4140926" y="812501"/>
            <a:ext cx="3344091" cy="5731608"/>
          </a:xfrm>
          <a:prstGeom prst="rect">
            <a:avLst/>
          </a:prstGeom>
          <a:ln>
            <a:solidFill>
              <a:schemeClr val="tx1"/>
            </a:solidFill>
          </a:ln>
        </p:spPr>
      </p:pic>
      <p:pic>
        <p:nvPicPr>
          <p:cNvPr id="4" name="Picture 3">
            <a:extLst>
              <a:ext uri="{FF2B5EF4-FFF2-40B4-BE49-F238E27FC236}">
                <a16:creationId xmlns:a16="http://schemas.microsoft.com/office/drawing/2014/main" id="{11314CA1-C7FB-BFA6-8148-82269E15E349}"/>
              </a:ext>
            </a:extLst>
          </p:cNvPr>
          <p:cNvPicPr>
            <a:picLocks noChangeAspect="1"/>
          </p:cNvPicPr>
          <p:nvPr/>
        </p:nvPicPr>
        <p:blipFill>
          <a:blip r:embed="rId5"/>
          <a:stretch>
            <a:fillRect/>
          </a:stretch>
        </p:blipFill>
        <p:spPr>
          <a:xfrm>
            <a:off x="7846271" y="845158"/>
            <a:ext cx="3984170" cy="5772778"/>
          </a:xfrm>
          <a:prstGeom prst="rect">
            <a:avLst/>
          </a:prstGeom>
          <a:ln>
            <a:solidFill>
              <a:schemeClr val="tx1"/>
            </a:solidFill>
          </a:ln>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54C690C-D155-6B58-820F-223066324D6C}"/>
                  </a:ext>
                </a:extLst>
              </p14:cNvPr>
              <p14:cNvContentPartPr/>
              <p14:nvPr/>
            </p14:nvContentPartPr>
            <p14:xfrm>
              <a:off x="8477537" y="914606"/>
              <a:ext cx="360" cy="360"/>
            </p14:xfrm>
          </p:contentPart>
        </mc:Choice>
        <mc:Fallback xmlns="">
          <p:pic>
            <p:nvPicPr>
              <p:cNvPr id="7" name="Ink 6">
                <a:extLst>
                  <a:ext uri="{FF2B5EF4-FFF2-40B4-BE49-F238E27FC236}">
                    <a16:creationId xmlns:a16="http://schemas.microsoft.com/office/drawing/2014/main" id="{454C690C-D155-6B58-820F-223066324D6C}"/>
                  </a:ext>
                </a:extLst>
              </p:cNvPr>
              <p:cNvPicPr/>
              <p:nvPr/>
            </p:nvPicPr>
            <p:blipFill>
              <a:blip r:embed="rId7"/>
              <a:stretch>
                <a:fillRect/>
              </a:stretch>
            </p:blipFill>
            <p:spPr>
              <a:xfrm>
                <a:off x="8471417" y="90848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B854E8CB-411E-6636-B07D-B10FF2CB3F58}"/>
                  </a:ext>
                </a:extLst>
              </p14:cNvPr>
              <p14:cNvContentPartPr/>
              <p14:nvPr/>
            </p14:nvContentPartPr>
            <p14:xfrm>
              <a:off x="13706537" y="1146806"/>
              <a:ext cx="35640" cy="15840"/>
            </p14:xfrm>
          </p:contentPart>
        </mc:Choice>
        <mc:Fallback xmlns="">
          <p:pic>
            <p:nvPicPr>
              <p:cNvPr id="9" name="Ink 8">
                <a:extLst>
                  <a:ext uri="{FF2B5EF4-FFF2-40B4-BE49-F238E27FC236}">
                    <a16:creationId xmlns:a16="http://schemas.microsoft.com/office/drawing/2014/main" id="{B854E8CB-411E-6636-B07D-B10FF2CB3F58}"/>
                  </a:ext>
                </a:extLst>
              </p:cNvPr>
              <p:cNvPicPr/>
              <p:nvPr/>
            </p:nvPicPr>
            <p:blipFill>
              <a:blip r:embed="rId9"/>
              <a:stretch>
                <a:fillRect/>
              </a:stretch>
            </p:blipFill>
            <p:spPr>
              <a:xfrm>
                <a:off x="13700417" y="1140686"/>
                <a:ext cx="478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82F3FA4F-D1DD-2640-3ED7-92C3297D5416}"/>
                  </a:ext>
                </a:extLst>
              </p14:cNvPr>
              <p14:cNvContentPartPr/>
              <p14:nvPr/>
            </p14:nvContentPartPr>
            <p14:xfrm>
              <a:off x="3174017" y="2285846"/>
              <a:ext cx="360" cy="360"/>
            </p14:xfrm>
          </p:contentPart>
        </mc:Choice>
        <mc:Fallback xmlns="">
          <p:pic>
            <p:nvPicPr>
              <p:cNvPr id="10" name="Ink 9">
                <a:extLst>
                  <a:ext uri="{FF2B5EF4-FFF2-40B4-BE49-F238E27FC236}">
                    <a16:creationId xmlns:a16="http://schemas.microsoft.com/office/drawing/2014/main" id="{82F3FA4F-D1DD-2640-3ED7-92C3297D5416}"/>
                  </a:ext>
                </a:extLst>
              </p:cNvPr>
              <p:cNvPicPr/>
              <p:nvPr/>
            </p:nvPicPr>
            <p:blipFill>
              <a:blip r:embed="rId7"/>
              <a:stretch>
                <a:fillRect/>
              </a:stretch>
            </p:blipFill>
            <p:spPr>
              <a:xfrm>
                <a:off x="3167897" y="2279726"/>
                <a:ext cx="12600" cy="12600"/>
              </a:xfrm>
              <a:prstGeom prst="rect">
                <a:avLst/>
              </a:prstGeom>
            </p:spPr>
          </p:pic>
        </mc:Fallback>
      </mc:AlternateContent>
      <p:sp>
        <p:nvSpPr>
          <p:cNvPr id="14" name="Rectangle 13">
            <a:extLst>
              <a:ext uri="{FF2B5EF4-FFF2-40B4-BE49-F238E27FC236}">
                <a16:creationId xmlns:a16="http://schemas.microsoft.com/office/drawing/2014/main" id="{8249F053-1641-0D3F-1323-022A5A354B81}"/>
              </a:ext>
            </a:extLst>
          </p:cNvPr>
          <p:cNvSpPr/>
          <p:nvPr/>
        </p:nvSpPr>
        <p:spPr>
          <a:xfrm>
            <a:off x="8398663" y="941420"/>
            <a:ext cx="1201782" cy="2322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521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7B4A-26C0-6A37-326B-3097D2E81BEB}"/>
              </a:ext>
            </a:extLst>
          </p:cNvPr>
          <p:cNvSpPr>
            <a:spLocks noGrp="1"/>
          </p:cNvSpPr>
          <p:nvPr>
            <p:ph type="ctrTitle"/>
          </p:nvPr>
        </p:nvSpPr>
        <p:spPr>
          <a:xfrm>
            <a:off x="314391" y="123825"/>
            <a:ext cx="6181659" cy="6115050"/>
          </a:xfrm>
        </p:spPr>
        <p:txBody>
          <a:bodyPr anchor="t">
            <a:normAutofit/>
          </a:bodyPr>
          <a:lstStyle/>
          <a:p>
            <a:pPr lvl="0" algn="l" eaLnBrk="0" fontAlgn="base" hangingPunct="0">
              <a:spcAft>
                <a:spcPct val="0"/>
              </a:spcAft>
            </a:pPr>
            <a:r>
              <a:rPr lang="en-US" sz="1800" b="1" dirty="0"/>
              <a:t>                                 </a:t>
            </a:r>
            <a:r>
              <a:rPr lang="en-US" sz="1800" b="1" u="sng" dirty="0"/>
              <a:t> </a:t>
            </a:r>
            <a:r>
              <a:rPr lang="en-US" sz="1800" b="1" u="sng" dirty="0">
                <a:solidFill>
                  <a:schemeClr val="tx2"/>
                </a:solidFill>
              </a:rPr>
              <a:t>Account Help</a:t>
            </a:r>
            <a:br>
              <a:rPr lang="en-US" sz="1000" b="1" dirty="0"/>
            </a:br>
            <a:br>
              <a:rPr lang="en-US" sz="1600" b="1" dirty="0">
                <a:solidFill>
                  <a:schemeClr val="tx2"/>
                </a:solidFill>
              </a:rPr>
            </a:br>
            <a:r>
              <a:rPr lang="en-US" sz="1300" b="1" dirty="0">
                <a:solidFill>
                  <a:schemeClr val="tx2"/>
                </a:solidFill>
              </a:rPr>
              <a:t>To unlock your dealer portal account</a:t>
            </a:r>
            <a:br>
              <a:rPr lang="en-US" sz="1300" b="1" dirty="0">
                <a:solidFill>
                  <a:schemeClr val="tx2"/>
                </a:solidFill>
              </a:rPr>
            </a:br>
            <a:br>
              <a:rPr lang="en-US" sz="1300" b="1" dirty="0">
                <a:solidFill>
                  <a:schemeClr val="tx2"/>
                </a:solidFill>
              </a:rPr>
            </a:br>
            <a:r>
              <a:rPr lang="en-US" sz="1300" b="1" dirty="0">
                <a:solidFill>
                  <a:schemeClr val="tx2"/>
                </a:solidFill>
              </a:rPr>
              <a:t> Initiate the process:</a:t>
            </a:r>
            <a:r>
              <a:rPr lang="en-US" sz="1300" dirty="0">
                <a:solidFill>
                  <a:schemeClr val="tx2"/>
                </a:solidFill>
              </a:rPr>
              <a:t> On the dealer portal login page, click on the</a:t>
            </a:r>
            <a:br>
              <a:rPr lang="en-US" sz="1300" dirty="0">
                <a:solidFill>
                  <a:schemeClr val="tx2"/>
                </a:solidFill>
              </a:rPr>
            </a:br>
            <a:r>
              <a:rPr lang="en-US" sz="1300" dirty="0">
                <a:solidFill>
                  <a:schemeClr val="tx2"/>
                </a:solidFill>
              </a:rPr>
              <a:t>Choose the "Unlock account?" option. </a:t>
            </a:r>
            <a:br>
              <a:rPr lang="en-US" sz="1300" dirty="0">
                <a:solidFill>
                  <a:schemeClr val="tx2"/>
                </a:solidFill>
              </a:rPr>
            </a:br>
            <a:br>
              <a:rPr lang="en-US" sz="1300" dirty="0">
                <a:solidFill>
                  <a:schemeClr val="tx2"/>
                </a:solidFill>
              </a:rPr>
            </a:br>
            <a:r>
              <a:rPr lang="en-US" sz="1300" b="1" dirty="0">
                <a:solidFill>
                  <a:schemeClr val="tx2"/>
                </a:solidFill>
              </a:rPr>
              <a:t>Provide identifying information:</a:t>
            </a:r>
            <a:r>
              <a:rPr lang="en-US" sz="1300" dirty="0">
                <a:solidFill>
                  <a:schemeClr val="tx2"/>
                </a:solidFill>
              </a:rPr>
              <a:t> Enter your email address or username.</a:t>
            </a:r>
            <a:br>
              <a:rPr lang="en-US" sz="1300" dirty="0">
                <a:solidFill>
                  <a:schemeClr val="tx2"/>
                </a:solidFill>
              </a:rPr>
            </a:br>
            <a:r>
              <a:rPr lang="en-US" sz="1300" dirty="0">
                <a:solidFill>
                  <a:schemeClr val="tx2"/>
                </a:solidFill>
              </a:rPr>
              <a:t> </a:t>
            </a:r>
            <a:br>
              <a:rPr lang="en-US" sz="1300" dirty="0">
                <a:solidFill>
                  <a:schemeClr val="tx2"/>
                </a:solidFill>
              </a:rPr>
            </a:br>
            <a:r>
              <a:rPr lang="en-US" sz="1300" b="1" dirty="0">
                <a:solidFill>
                  <a:schemeClr val="tx2"/>
                </a:solidFill>
              </a:rPr>
              <a:t>Follow authentication prompts:</a:t>
            </a:r>
            <a:r>
              <a:rPr lang="en-US" sz="1300" dirty="0">
                <a:solidFill>
                  <a:schemeClr val="tx2"/>
                </a:solidFill>
              </a:rPr>
              <a:t> You may be asked to answer security questions, </a:t>
            </a:r>
            <a:br>
              <a:rPr lang="en-US" sz="1300" dirty="0">
                <a:solidFill>
                  <a:schemeClr val="tx2"/>
                </a:solidFill>
              </a:rPr>
            </a:br>
            <a:r>
              <a:rPr lang="en-US" sz="1300" b="1" dirty="0">
                <a:solidFill>
                  <a:schemeClr val="tx2"/>
                </a:solidFill>
              </a:rPr>
              <a:t>Complete verification:</a:t>
            </a:r>
            <a:r>
              <a:rPr lang="en-US" sz="1300" dirty="0">
                <a:solidFill>
                  <a:schemeClr val="tx2"/>
                </a:solidFill>
              </a:rPr>
              <a:t> Follow the on-screen instructions to verify your identity. </a:t>
            </a:r>
            <a:br>
              <a:rPr lang="en-US" sz="1300" dirty="0">
                <a:solidFill>
                  <a:schemeClr val="tx2"/>
                </a:solidFill>
              </a:rPr>
            </a:br>
            <a:br>
              <a:rPr lang="en-US" sz="1300" dirty="0">
                <a:solidFill>
                  <a:schemeClr val="tx2"/>
                </a:solidFill>
              </a:rPr>
            </a:br>
            <a:r>
              <a:rPr lang="en-US" sz="1300" b="1" dirty="0">
                <a:solidFill>
                  <a:schemeClr val="tx2"/>
                </a:solidFill>
              </a:rPr>
              <a:t>Log in:</a:t>
            </a:r>
            <a:r>
              <a:rPr lang="en-US" sz="1300" dirty="0">
                <a:solidFill>
                  <a:schemeClr val="tx2"/>
                </a:solidFill>
              </a:rPr>
              <a:t> Once your account is unlocked, you can sign in to Okta again. </a:t>
            </a:r>
            <a:br>
              <a:rPr lang="en-US" sz="1300" dirty="0">
                <a:solidFill>
                  <a:schemeClr val="tx2"/>
                </a:solidFill>
              </a:rPr>
            </a:br>
            <a:br>
              <a:rPr lang="en-US" sz="1300" dirty="0">
                <a:solidFill>
                  <a:schemeClr val="tx2"/>
                </a:solidFill>
              </a:rPr>
            </a:br>
            <a:r>
              <a:rPr lang="en-US" sz="1300" b="1" i="1" u="sng" dirty="0">
                <a:solidFill>
                  <a:schemeClr val="tx2"/>
                </a:solidFill>
              </a:rPr>
              <a:t>To reset your password </a:t>
            </a:r>
            <a:br>
              <a:rPr lang="en-US" sz="1300" b="1" dirty="0">
                <a:solidFill>
                  <a:schemeClr val="tx2"/>
                </a:solidFill>
              </a:rPr>
            </a:br>
            <a:r>
              <a:rPr lang="en-US" sz="1300" b="1" dirty="0">
                <a:solidFill>
                  <a:schemeClr val="tx2"/>
                </a:solidFill>
              </a:rPr>
              <a:t> Initiate the process:</a:t>
            </a:r>
            <a:r>
              <a:rPr lang="en-US" sz="1300" dirty="0">
                <a:solidFill>
                  <a:schemeClr val="tx2"/>
                </a:solidFill>
              </a:rPr>
              <a:t> On the dealer portal login page, click on the </a:t>
            </a:r>
            <a:r>
              <a:rPr kumimoji="0" lang="en-US" altLang="en-US" sz="1300" b="1" i="0" u="none" strike="noStrike" cap="none" normalizeH="0" baseline="0" dirty="0">
                <a:ln>
                  <a:noFill/>
                </a:ln>
                <a:solidFill>
                  <a:schemeClr val="tx2"/>
                </a:solidFill>
                <a:effectLst/>
                <a:latin typeface="Google Sans"/>
              </a:rPr>
              <a:t>"Forgot Password?" </a:t>
            </a:r>
            <a:r>
              <a:rPr kumimoji="0" lang="en-US" altLang="en-US" sz="1300" b="0" i="0" u="none" strike="noStrike" cap="none" normalizeH="0" baseline="0" dirty="0">
                <a:ln>
                  <a:noFill/>
                </a:ln>
                <a:solidFill>
                  <a:schemeClr val="tx2"/>
                </a:solidFill>
                <a:effectLst/>
                <a:latin typeface="Google Sans"/>
              </a:rPr>
              <a:t> </a:t>
            </a:r>
            <a:br>
              <a:rPr kumimoji="0" lang="en-US" altLang="en-US" sz="1300" b="0" i="0" u="none" strike="noStrike" cap="none" normalizeH="0" baseline="0" dirty="0">
                <a:ln>
                  <a:noFill/>
                </a:ln>
                <a:solidFill>
                  <a:schemeClr val="tx2"/>
                </a:solidFill>
                <a:effectLst/>
                <a:latin typeface="Google Sans"/>
              </a:rPr>
            </a:br>
            <a:br>
              <a:rPr kumimoji="0" lang="en-US" altLang="en-US" sz="1300" b="0" i="0" u="none" strike="noStrike" cap="none" normalizeH="0" baseline="0" dirty="0">
                <a:ln>
                  <a:noFill/>
                </a:ln>
                <a:solidFill>
                  <a:schemeClr val="tx2"/>
                </a:solidFill>
                <a:effectLst/>
                <a:latin typeface="Google Sans"/>
              </a:rPr>
            </a:br>
            <a:r>
              <a:rPr kumimoji="0" lang="en-US" altLang="en-US" sz="1300" b="1" i="0" u="none" strike="noStrike" cap="none" normalizeH="0" baseline="0" dirty="0">
                <a:ln>
                  <a:noFill/>
                </a:ln>
                <a:solidFill>
                  <a:schemeClr val="tx2"/>
                </a:solidFill>
                <a:effectLst/>
                <a:latin typeface="Google Sans"/>
              </a:rPr>
              <a:t>Provide your username or email:</a:t>
            </a:r>
            <a:r>
              <a:rPr kumimoji="0" lang="en-US" altLang="en-US" sz="1300" b="0" i="0" u="none" strike="noStrike" cap="none" normalizeH="0" baseline="0" dirty="0">
                <a:ln>
                  <a:noFill/>
                </a:ln>
                <a:solidFill>
                  <a:schemeClr val="tx2"/>
                </a:solidFill>
                <a:effectLst/>
                <a:latin typeface="Google Sans"/>
              </a:rPr>
              <a:t> Enter the email address or username associated with your Okta account and click "Reset via Email" or the relevant option. </a:t>
            </a:r>
            <a:br>
              <a:rPr kumimoji="0" lang="en-US" altLang="en-US" sz="1300" b="0" i="0" u="none" strike="noStrike" cap="none" normalizeH="0" baseline="0" dirty="0">
                <a:ln>
                  <a:noFill/>
                </a:ln>
                <a:solidFill>
                  <a:schemeClr val="tx2"/>
                </a:solidFill>
                <a:effectLst/>
                <a:latin typeface="Google Sans"/>
              </a:rPr>
            </a:br>
            <a:br>
              <a:rPr kumimoji="0" lang="en-US" altLang="en-US" sz="1300" b="0" i="0" u="none" strike="noStrike" cap="none" normalizeH="0" baseline="0" dirty="0">
                <a:ln>
                  <a:noFill/>
                </a:ln>
                <a:solidFill>
                  <a:schemeClr val="tx2"/>
                </a:solidFill>
                <a:effectLst/>
                <a:latin typeface="Google Sans"/>
              </a:rPr>
            </a:br>
            <a:r>
              <a:rPr kumimoji="0" lang="en-US" altLang="en-US" sz="1300" b="1" i="0" u="none" strike="noStrike" cap="none" normalizeH="0" baseline="0" dirty="0">
                <a:ln>
                  <a:noFill/>
                </a:ln>
                <a:solidFill>
                  <a:schemeClr val="tx2"/>
                </a:solidFill>
                <a:effectLst/>
                <a:latin typeface="Google Sans"/>
              </a:rPr>
              <a:t>Check your email or phone for verification:</a:t>
            </a:r>
            <a:r>
              <a:rPr kumimoji="0" lang="en-US" altLang="en-US" sz="1300" b="0" i="0" u="none" strike="noStrike" cap="none" normalizeH="0" baseline="0" dirty="0">
                <a:ln>
                  <a:noFill/>
                </a:ln>
                <a:solidFill>
                  <a:schemeClr val="tx2"/>
                </a:solidFill>
                <a:effectLst/>
                <a:latin typeface="Google Sans"/>
              </a:rPr>
              <a:t> You will receive an email or text message with a reset link or code. </a:t>
            </a:r>
            <a:br>
              <a:rPr kumimoji="0" lang="en-US" altLang="en-US" sz="1300" b="0" i="0" u="none" strike="noStrike" cap="none" normalizeH="0" baseline="0" dirty="0">
                <a:ln>
                  <a:noFill/>
                </a:ln>
                <a:solidFill>
                  <a:schemeClr val="tx2"/>
                </a:solidFill>
                <a:effectLst/>
                <a:latin typeface="Google Sans"/>
              </a:rPr>
            </a:br>
            <a:br>
              <a:rPr kumimoji="0" lang="en-US" altLang="en-US" sz="1300" b="0" i="0" u="none" strike="noStrike" cap="none" normalizeH="0" baseline="0" dirty="0">
                <a:ln>
                  <a:noFill/>
                </a:ln>
                <a:solidFill>
                  <a:schemeClr val="tx2"/>
                </a:solidFill>
                <a:effectLst/>
                <a:latin typeface="Google Sans"/>
              </a:rPr>
            </a:br>
            <a:r>
              <a:rPr kumimoji="0" lang="en-US" altLang="en-US" sz="1300" b="1" i="0" u="none" strike="noStrike" cap="none" normalizeH="0" baseline="0" dirty="0">
                <a:ln>
                  <a:noFill/>
                </a:ln>
                <a:solidFill>
                  <a:schemeClr val="tx2"/>
                </a:solidFill>
                <a:effectLst/>
                <a:latin typeface="Google Sans"/>
              </a:rPr>
              <a:t>Verify your identity:</a:t>
            </a:r>
            <a:r>
              <a:rPr kumimoji="0" lang="en-US" altLang="en-US" sz="1300" b="0" i="0" u="none" strike="noStrike" cap="none" normalizeH="0" baseline="0" dirty="0">
                <a:ln>
                  <a:noFill/>
                </a:ln>
                <a:solidFill>
                  <a:schemeClr val="tx2"/>
                </a:solidFill>
                <a:effectLst/>
                <a:latin typeface="Google Sans"/>
              </a:rPr>
              <a:t> Click the "Reset Password" link in the email or enter the code from your SMS. If you're prompted for a security question, provide the answer. </a:t>
            </a:r>
            <a:br>
              <a:rPr kumimoji="0" lang="en-US" altLang="en-US" sz="1300" b="0" i="0" u="none" strike="noStrike" cap="none" normalizeH="0" baseline="0" dirty="0">
                <a:ln>
                  <a:noFill/>
                </a:ln>
                <a:solidFill>
                  <a:schemeClr val="tx2"/>
                </a:solidFill>
                <a:effectLst/>
                <a:latin typeface="Google Sans"/>
              </a:rPr>
            </a:br>
            <a:br>
              <a:rPr kumimoji="0" lang="en-US" altLang="en-US" sz="1300" b="0" i="0" u="none" strike="noStrike" cap="none" normalizeH="0" baseline="0" dirty="0">
                <a:ln>
                  <a:noFill/>
                </a:ln>
                <a:solidFill>
                  <a:schemeClr val="tx2"/>
                </a:solidFill>
                <a:effectLst/>
                <a:latin typeface="Google Sans"/>
              </a:rPr>
            </a:br>
            <a:r>
              <a:rPr kumimoji="0" lang="en-US" altLang="en-US" sz="1300" b="1" i="0" u="none" strike="noStrike" cap="none" normalizeH="0" baseline="0" dirty="0">
                <a:ln>
                  <a:noFill/>
                </a:ln>
                <a:solidFill>
                  <a:schemeClr val="tx2"/>
                </a:solidFill>
                <a:effectLst/>
                <a:latin typeface="Google Sans"/>
              </a:rPr>
              <a:t>Set your new password:</a:t>
            </a:r>
            <a:r>
              <a:rPr kumimoji="0" lang="en-US" altLang="en-US" sz="1300" b="0" i="0" u="none" strike="noStrike" cap="none" normalizeH="0" baseline="0" dirty="0">
                <a:ln>
                  <a:noFill/>
                </a:ln>
                <a:solidFill>
                  <a:schemeClr val="tx2"/>
                </a:solidFill>
                <a:effectLst/>
                <a:latin typeface="Google Sans"/>
              </a:rPr>
              <a:t> On the password reset page, enter your new password and confirm it, then click "Reset Password". </a:t>
            </a:r>
            <a:br>
              <a:rPr kumimoji="0" lang="en-US" altLang="en-US" sz="1300" b="0" i="0" u="none" strike="noStrike" cap="none" normalizeH="0" baseline="0" dirty="0">
                <a:ln>
                  <a:noFill/>
                </a:ln>
                <a:solidFill>
                  <a:schemeClr val="tx2"/>
                </a:solidFill>
                <a:effectLst/>
                <a:latin typeface="Google Sans"/>
              </a:rPr>
            </a:br>
            <a:br>
              <a:rPr kumimoji="0" lang="en-US" altLang="en-US" sz="1300" b="0" i="0" u="none" strike="noStrike" cap="none" normalizeH="0" baseline="0" dirty="0">
                <a:ln>
                  <a:noFill/>
                </a:ln>
                <a:solidFill>
                  <a:schemeClr val="tx2"/>
                </a:solidFill>
                <a:effectLst/>
                <a:latin typeface="Google Sans"/>
              </a:rPr>
            </a:br>
            <a:r>
              <a:rPr kumimoji="0" lang="en-US" altLang="en-US" sz="1300" b="0" i="0" u="none" strike="noStrike" cap="none" normalizeH="0" baseline="0" dirty="0">
                <a:ln>
                  <a:noFill/>
                </a:ln>
                <a:solidFill>
                  <a:schemeClr val="tx2"/>
                </a:solidFill>
                <a:effectLst/>
                <a:latin typeface="Google Sans"/>
              </a:rPr>
              <a:t>**</a:t>
            </a:r>
            <a:r>
              <a:rPr kumimoji="0" lang="en-US" altLang="en-US" sz="1300" b="1" i="1" u="none" strike="noStrike" cap="none" normalizeH="0" baseline="0" dirty="0">
                <a:ln>
                  <a:noFill/>
                </a:ln>
                <a:solidFill>
                  <a:schemeClr val="tx2"/>
                </a:solidFill>
                <a:effectLst/>
                <a:latin typeface="Google Sans"/>
              </a:rPr>
              <a:t>For all other issues, please contact your dealer portal support rep.</a:t>
            </a:r>
            <a:br>
              <a:rPr kumimoji="0" lang="en-US" altLang="en-US" sz="1800" b="0" i="0" u="none" strike="noStrike" cap="none" normalizeH="0" baseline="0" dirty="0">
                <a:ln>
                  <a:noFill/>
                </a:ln>
                <a:effectLst/>
                <a:latin typeface="Google Sans"/>
              </a:rPr>
            </a:br>
            <a:endParaRPr lang="en-US" sz="1800" dirty="0"/>
          </a:p>
        </p:txBody>
      </p:sp>
      <p:sp>
        <p:nvSpPr>
          <p:cNvPr id="16" name="Rectangle 15">
            <a:extLst>
              <a:ext uri="{FF2B5EF4-FFF2-40B4-BE49-F238E27FC236}">
                <a16:creationId xmlns:a16="http://schemas.microsoft.com/office/drawing/2014/main" id="{7350D8B7-495C-7BBB-C584-7C7B0E30E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2786" y="0"/>
            <a:ext cx="4599214"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966EC17-B1B0-FDF1-5B8A-D43461BB340A}"/>
              </a:ext>
            </a:extLst>
          </p:cNvPr>
          <p:cNvSpPr>
            <a:spLocks noGrp="1"/>
          </p:cNvSpPr>
          <p:nvPr>
            <p:ph type="subTitle" idx="1"/>
          </p:nvPr>
        </p:nvSpPr>
        <p:spPr>
          <a:xfrm>
            <a:off x="8248844" y="5497592"/>
            <a:ext cx="3235234" cy="858754"/>
          </a:xfrm>
        </p:spPr>
        <p:txBody>
          <a:bodyPr anchor="t">
            <a:normAutofit/>
          </a:bodyPr>
          <a:lstStyle/>
          <a:p>
            <a:pPr algn="l"/>
            <a:r>
              <a:rPr lang="en-US" sz="1800" dirty="0"/>
              <a:t>      </a:t>
            </a:r>
            <a:endParaRPr lang="en-US" sz="1800" b="1" dirty="0"/>
          </a:p>
          <a:p>
            <a:pPr algn="l"/>
            <a:endParaRPr lang="en-US" sz="1800" b="1" dirty="0"/>
          </a:p>
        </p:txBody>
      </p:sp>
      <p:pic>
        <p:nvPicPr>
          <p:cNvPr id="4" name="Picture 3" descr="A screenshot of a login page&#10;&#10;AI-generated content may be incorrect.">
            <a:extLst>
              <a:ext uri="{FF2B5EF4-FFF2-40B4-BE49-F238E27FC236}">
                <a16:creationId xmlns:a16="http://schemas.microsoft.com/office/drawing/2014/main" id="{289E61D6-2C63-93C3-C2B3-432E2FECD85D}"/>
              </a:ext>
            </a:extLst>
          </p:cNvPr>
          <p:cNvPicPr>
            <a:picLocks noChangeAspect="1"/>
          </p:cNvPicPr>
          <p:nvPr/>
        </p:nvPicPr>
        <p:blipFill>
          <a:blip r:embed="rId2"/>
          <a:stretch>
            <a:fillRect/>
          </a:stretch>
        </p:blipFill>
        <p:spPr>
          <a:xfrm>
            <a:off x="6705597" y="179237"/>
            <a:ext cx="4467225" cy="6004225"/>
          </a:xfrm>
          <a:prstGeom prst="rect">
            <a:avLst/>
          </a:prstGeom>
        </p:spPr>
      </p:pic>
      <p:cxnSp>
        <p:nvCxnSpPr>
          <p:cNvPr id="18" name="Straight Connector 17">
            <a:extLst>
              <a:ext uri="{FF2B5EF4-FFF2-40B4-BE49-F238E27FC236}">
                <a16:creationId xmlns:a16="http://schemas.microsoft.com/office/drawing/2014/main" id="{A987D6CB-F2DA-0CA1-E66E-A2D01C70D7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14156" y="5181888"/>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9C1348D7-6F27-D220-8DD7-B148912ADCA5}"/>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Arrow: Left 5">
            <a:extLst>
              <a:ext uri="{FF2B5EF4-FFF2-40B4-BE49-F238E27FC236}">
                <a16:creationId xmlns:a16="http://schemas.microsoft.com/office/drawing/2014/main" id="{25ACABFA-C40E-F4BB-585D-A85CF0AFEBA7}"/>
              </a:ext>
            </a:extLst>
          </p:cNvPr>
          <p:cNvSpPr/>
          <p:nvPr/>
        </p:nvSpPr>
        <p:spPr>
          <a:xfrm>
            <a:off x="8570739" y="5276842"/>
            <a:ext cx="736939" cy="484632"/>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380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cb7d799-2c4c-4a28-be1e-854332ab0008">
      <Terms xmlns="http://schemas.microsoft.com/office/infopath/2007/PartnerControls"/>
    </lcf76f155ced4ddcb4097134ff3c332f>
    <TaxCatchAll xmlns="0051a94f-28a5-4d21-a5b2-fdd2bc940b0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DB30AAFA743E42B784ACFAD2EDD5DA" ma:contentTypeVersion="16" ma:contentTypeDescription="Create a new document." ma:contentTypeScope="" ma:versionID="5897e48854dcf530c4542159abc0e2ae">
  <xsd:schema xmlns:xsd="http://www.w3.org/2001/XMLSchema" xmlns:xs="http://www.w3.org/2001/XMLSchema" xmlns:p="http://schemas.microsoft.com/office/2006/metadata/properties" xmlns:ns2="acb7d799-2c4c-4a28-be1e-854332ab0008" xmlns:ns3="0051a94f-28a5-4d21-a5b2-fdd2bc940b00" targetNamespace="http://schemas.microsoft.com/office/2006/metadata/properties" ma:root="true" ma:fieldsID="cd476a5ccf0b14dc30dd37bfa8fe756a" ns2:_="" ns3:_="">
    <xsd:import namespace="acb7d799-2c4c-4a28-be1e-854332ab0008"/>
    <xsd:import namespace="0051a94f-28a5-4d21-a5b2-fdd2bc940b0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b7d799-2c4c-4a28-be1e-854332ab00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0e741d3-3440-4700-9e8d-fd41cb1e56a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051a94f-28a5-4d21-a5b2-fdd2bc940b0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d063d0d-5907-4d3a-b36b-683c14b0414a}" ma:internalName="TaxCatchAll" ma:showField="CatchAllData" ma:web="0051a94f-28a5-4d21-a5b2-fdd2bc940b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64C202-E886-4130-8896-DAD831B4EF12}">
  <ds:schemaRefs>
    <ds:schemaRef ds:uri="http://schemas.microsoft.com/office/infopath/2007/PartnerControls"/>
    <ds:schemaRef ds:uri="http://purl.org/dc/terms/"/>
    <ds:schemaRef ds:uri="http://purl.org/dc/elements/1.1/"/>
    <ds:schemaRef ds:uri="http://purl.org/dc/dcmitype/"/>
    <ds:schemaRef ds:uri="0051a94f-28a5-4d21-a5b2-fdd2bc940b00"/>
    <ds:schemaRef ds:uri="http://schemas.microsoft.com/office/2006/documentManagement/types"/>
    <ds:schemaRef ds:uri="http://schemas.openxmlformats.org/package/2006/metadata/core-properties"/>
    <ds:schemaRef ds:uri="acb7d799-2c4c-4a28-be1e-854332ab0008"/>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C079FF52-6455-41D3-9247-5A9CB2A5AD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b7d799-2c4c-4a28-be1e-854332ab0008"/>
    <ds:schemaRef ds:uri="0051a94f-28a5-4d21-a5b2-fdd2bc940b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0E48A77-A377-4D1B-B819-67FE33936A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accessing.dealerPortal.2.0 (00C)</Template>
  <TotalTime>208</TotalTime>
  <Words>531</Words>
  <Application>Microsoft Office PowerPoint</Application>
  <PresentationFormat>Widescreen</PresentationFormat>
  <Paragraphs>20</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Google Sans</vt:lpstr>
      <vt:lpstr>Office Theme</vt:lpstr>
      <vt:lpstr>Accessing  dealer Portal 2.0</vt:lpstr>
      <vt:lpstr>Accessing Dealer Portal 2.0</vt:lpstr>
      <vt:lpstr>Accessing Dealer Portal 2.0</vt:lpstr>
      <vt:lpstr>Accessing Dealer Portal 2.0</vt:lpstr>
      <vt:lpstr>                                  Account Help  To unlock your dealer portal account   Initiate the process: On the dealer portal login page, click on the Choose the "Unlock account?" option.   Provide identifying information: Enter your email address or username.   Follow authentication prompts: You may be asked to answer security questions,  Complete verification: Follow the on-screen instructions to verify your identity.   Log in: Once your account is unlocked, you can sign in to Okta again.   To reset your password   Initiate the process: On the dealer portal login page, click on the "Forgot Password?"    Provide your username or email: Enter the email address or username associated with your Okta account and click "Reset via Email" or the relevant option.   Check your email or phone for verification: You will receive an email or text message with a reset link or code.   Verify your identity: Click the "Reset Password" link in the email or enter the code from your SMS. If you're prompted for a security question, provide the answer.   Set your new password: On the password reset page, enter your new password and confirm it, then click "Reset Password".   **For all other issues, please contact your dealer portal support rep.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Tamika Middlebrooks</dc:creator>
  <cp:lastModifiedBy>Tamika Middlebrooks</cp:lastModifiedBy>
  <cp:revision>1</cp:revision>
  <dcterms:created xsi:type="dcterms:W3CDTF">2026-03-31T16:06:06Z</dcterms:created>
  <dcterms:modified xsi:type="dcterms:W3CDTF">2026-03-31T19:35:15Z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0x010100F9DB30AAFA743E42B784ACFAD2EDD5DA</vt:lpwstr>
  </property>
  <property fmtid="{D5CDD505-2E9C-101B-9397-08002B2CF9AE}" pid="3" name="MediaServiceImageTags">
    <vt:lpwstr/>
  </property>
</Properties>
</file>